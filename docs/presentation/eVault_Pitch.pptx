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alibri"/>
              </a:rPr>
              <a:t>eVault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FFFFFF"/>
                </a:solidFill>
                <a:latin typeface="Calibri"/>
              </a:rPr>
              <a:t>Blockchain-based eVault for Legal Records</a:t>
            </a:r>
          </a:p>
          <a:p>
            <a:r>
              <a:rPr sz="1600" b="0">
                <a:solidFill>
                  <a:srgbClr val="C8E6DC"/>
                </a:solidFill>
                <a:latin typeface="Calibri"/>
              </a:rPr>
              <a:t>Secure · Transparent · Accessible for Lawyers, Judges &amp;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Hackathon Prototype  |  Design Document  |  Business Plan</a:t>
            </a:r>
          </a:p>
          <a:p>
            <a:r>
              <a:rPr sz="1300" b="0">
                <a:solidFill>
                  <a:srgbClr val="FFFFFF"/>
                </a:solidFill>
                <a:latin typeface="Calibri"/>
              </a:rPr>
              <a:t>Aligned to Ministry of Law &amp; Justice — Access to Justice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1F33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Fragmented paper and siloed digital case files slow proceedings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Informal sharing (email, USB) risks confidentiality breaches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Hard to prove which copy is authentic — weak chain of custody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Litigants struggle to access their own authorized records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Result: delays, higher cost, and reduced trust in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3"/>
                </a:solidFill>
                <a:latin typeface="Calibri"/>
              </a:rPr>
              <a:t>eVault  ·  Blockchain Legal Records  ·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1F33"/>
                </a:solidFill>
                <a:latin typeface="Calibri"/>
              </a:rPr>
              <a:t>Our Solution — eVault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Encrypt legal PDFs with AES-256-GCM before storage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Store ciphertext on IPFS; metadata in secure databases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Register CID + integrity hash on Ethereum (Sepolia prototype)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Role-based apps for lawyers, judges, and citizens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Wallet/JWT auth, explicit share grants, full audit trail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75488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E8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937760"/>
            <a:ext cx="1078991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E56"/>
                </a:solidFill>
                <a:latin typeface="Calibri"/>
              </a:rPr>
              <a:t>Design principle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B1F33"/>
                </a:solidFill>
                <a:latin typeface="Calibri"/>
              </a:rPr>
              <a:t>Confidentiality off-chain  ·  Verifiability on-chain  ·  Accessibility by role. PDFs never go on the blockchain.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3"/>
                </a:solidFill>
                <a:latin typeface="Calibri"/>
              </a:rPr>
              <a:t>eVault  ·  Blockchain Legal Records  ·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1F33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E8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39"/>
            <a:ext cx="2194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E56"/>
                </a:solidFill>
                <a:latin typeface="Calibri"/>
              </a:rPr>
              <a:t>Frontend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B1F33"/>
                </a:solidFill>
                <a:latin typeface="Calibri"/>
              </a:rPr>
              <a:t>React UI
Lawyer · Judge · Citizen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28016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E8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463039"/>
            <a:ext cx="2194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E56"/>
                </a:solidFill>
                <a:latin typeface="Calibri"/>
              </a:rPr>
              <a:t>Gateway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B1F33"/>
                </a:solidFill>
                <a:latin typeface="Calibri"/>
              </a:rPr>
              <a:t>Spring Cloud
Single API entry :8080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28016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E8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463039"/>
            <a:ext cx="2194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E56"/>
                </a:solidFill>
                <a:latin typeface="Calibri"/>
              </a:rPr>
              <a:t>Services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B1F33"/>
                </a:solidFill>
                <a:latin typeface="Calibri"/>
              </a:rPr>
              <a:t>Auth · Docs · Chain
Audit · Notify · Integrate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28016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E8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463039"/>
            <a:ext cx="2194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E56"/>
                </a:solidFill>
                <a:latin typeface="Calibri"/>
              </a:rPr>
              <a:t>Anchors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B1F33"/>
                </a:solidFill>
                <a:latin typeface="Calibri"/>
              </a:rPr>
              <a:t>MySQL · IPFS
Ethereum Sepolia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57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B1F33"/>
                </a:solidFill>
                <a:latin typeface="Calibri"/>
              </a:rPr>
              <a:t>Microservices scale and upgrade independently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1F33"/>
                </a:solidFill>
                <a:latin typeface="Calibri"/>
              </a:rPr>
              <a:t>Gateway routes /api/documents, /blockchain, /audit, /ecourts, …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1F33"/>
                </a:solidFill>
                <a:latin typeface="Calibri"/>
              </a:rPr>
              <a:t>Smart contract eVault.sol manages store, verify, roles, permissions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3"/>
                </a:solidFill>
                <a:latin typeface="Calibri"/>
              </a:rPr>
              <a:t>eVault  ·  Blockchain Legal Records  ·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1F33"/>
                </a:solidFill>
                <a:latin typeface="Calibri"/>
              </a:rPr>
              <a:t>Privacy &amp;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E8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E56"/>
                </a:solidFill>
                <a:latin typeface="Calibri"/>
              </a:rPr>
              <a:t>Encryption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B1F33"/>
                </a:solidFill>
                <a:latin typeface="Calibri"/>
              </a:rPr>
              <a:t>AES-256-GCM + HKDF; versioned payloads; master key in env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E8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E56"/>
                </a:solidFill>
                <a:latin typeface="Calibri"/>
              </a:rPr>
              <a:t>Access control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B1F33"/>
                </a:solidFill>
                <a:latin typeface="Calibri"/>
              </a:rPr>
              <a:t>JWT + wallet; owner or time-bounded share grant required to download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2900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E8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E56"/>
                </a:solidFill>
                <a:latin typeface="Calibri"/>
              </a:rPr>
              <a:t>Integrity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B1F33"/>
                </a:solidFill>
                <a:latin typeface="Calibri"/>
              </a:rPr>
              <a:t>SHA-256 hash; MySQL vs Sepolia verify without decrypting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2900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E8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611880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E56"/>
                </a:solidFill>
                <a:latin typeface="Calibri"/>
              </a:rPr>
              <a:t>Accountability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B1F33"/>
                </a:solidFill>
                <a:latin typeface="Calibri"/>
              </a:rPr>
              <a:t>Audit events: upload, share, download, deny,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3"/>
                </a:solidFill>
                <a:latin typeface="Calibri"/>
              </a:rPr>
              <a:t>eVault  ·  Blockchain Legal Records  ·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1F33"/>
                </a:solidFill>
                <a:latin typeface="Calibri"/>
              </a:rPr>
              <a:t>Blockchain Layer — Ethereum Sepolia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Smart contract: eVault.sol (Solidity 0.8.x)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Stores: docId, caseId, IPFS CID, docType, uploader, timestamp, status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Optional content hash for stronger integrity checks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Roles: CLIENT, LAWYER, JUDGE, ADMIN — assignable on-chain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Events for stored, shared, revoked, signed documents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Node service calls the contract; UI never needs users to pay gas for every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3"/>
                </a:solidFill>
                <a:latin typeface="Calibri"/>
              </a:rPr>
              <a:t>eVault  ·  Blockchain Legal Records  ·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1F33"/>
                </a:solidFill>
                <a:latin typeface="Calibri"/>
              </a:rPr>
              <a:t>Stakeholder Interfaces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E8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004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E56"/>
                </a:solidFill>
                <a:latin typeface="Calibri"/>
              </a:rPr>
              <a:t>Lawyer Filing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B1F33"/>
                </a:solidFill>
                <a:latin typeface="Calibri"/>
              </a:rPr>
              <a:t>Secure &amp; register documents
Grant access
Document receipt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E8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2004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E56"/>
                </a:solidFill>
                <a:latin typeface="Calibri"/>
              </a:rPr>
              <a:t>Judge Workspace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B1F33"/>
                </a:solidFill>
                <a:latin typeface="Calibri"/>
              </a:rPr>
              <a:t>Sign &amp; register judicial orders
Case-linked filing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E8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554480"/>
            <a:ext cx="32004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E56"/>
                </a:solidFill>
                <a:latin typeface="Calibri"/>
              </a:rPr>
              <a:t>Citizen Vault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B1F33"/>
                </a:solidFill>
                <a:latin typeface="Calibri"/>
              </a:rPr>
              <a:t>Load by case ID
Verify integrity
Authorized download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3"/>
                </a:solidFill>
                <a:latin typeface="Calibri"/>
              </a:rPr>
              <a:t>eVault  ·  Blockchain Legal Records  ·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1F33"/>
                </a:solidFill>
                <a:latin typeface="Calibri"/>
              </a:rPr>
              <a:t>Interoperability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Integration service: case registry APIs (eCourts-style)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Document classifier assists filing type selection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Identity commitment binds wallet without storing raw Aadhaar in the vault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Gateway APIs ready for CMS / DigiLocker-class connectors in later phases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Prototype proves the path — not a fake hard-coded case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3"/>
                </a:solidFill>
                <a:latin typeface="Calibri"/>
              </a:rPr>
              <a:t>eVault  ·  Blockchain Legal Records  ·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1F33"/>
                </a:solidFill>
                <a:latin typeface="Calibri"/>
              </a:rPr>
              <a:t>Live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1. Connect MetaMask — real JWT auth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2. Lawyer: upload PDF → encrypt → IPFS → chain → MySQL → audit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3. Show document receipt (Doc ID, CID, status)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4. Verify integrity — MySQL vs Sepolia, no decrypt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5. Citizen/owner: authorized DOWNLOAD DOCUMENT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B1F33"/>
                </a:solidFill>
                <a:latin typeface="Calibri"/>
              </a:rPr>
              <a:t>6. Optional: grant access to another wallet; Judge order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3"/>
                </a:solidFill>
                <a:latin typeface="Calibri"/>
              </a:rPr>
              <a:t>eVault  ·  Blockchain Legal Records  ·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1F33"/>
                </a:solidFill>
                <a:latin typeface="Calibri"/>
              </a:rPr>
              <a:t>Impact &amp; Business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E8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120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E56"/>
                </a:solidFill>
                <a:latin typeface="Calibri"/>
              </a:rPr>
              <a:t>Impact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B1F33"/>
                </a:solidFill>
                <a:latin typeface="Calibri"/>
              </a:rPr>
              <a:t>Faster retrieval of authentic filings
Lower cost vs paper/email sprawl
Higher trust via integrity proofs
Better access to justice for clients
Transparent sharing with audit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E8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120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E56"/>
                </a:solidFill>
                <a:latin typeface="Calibri"/>
              </a:rPr>
              <a:t>Revenue (ethical)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B1F33"/>
                </a:solidFill>
                <a:latin typeface="Calibri"/>
              </a:rPr>
              <a:t>Court / state platform licenses
Integration &amp; implementation fees
Annual maintenance (AMC)
Law-firm / LSA subscriptions
Never monetize confidential case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3"/>
                </a:solidFill>
                <a:latin typeface="Calibri"/>
              </a:rPr>
              <a:t>eVault  ·  Blockchain Legal Records  ·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1F33"/>
                </a:solidFill>
                <a:latin typeface="Calibri"/>
              </a:rPr>
              <a:t>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2743200" cy="3657600"/>
          </a:xfrm>
          <a:prstGeom prst="roundRect">
            <a:avLst>
              <a:gd name="adj" fmla="val 8000"/>
            </a:avLst>
          </a:prstGeom>
          <a:solidFill>
            <a:srgbClr val="E8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2377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E56"/>
                </a:solidFill>
                <a:latin typeface="Calibri"/>
              </a:rPr>
              <a:t>P0 Prototype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B1F33"/>
                </a:solidFill>
                <a:latin typeface="Calibri"/>
              </a:rPr>
              <a:t>Working vault + UIs
Sepolia + encryption
(Hackathon now)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463040"/>
            <a:ext cx="2743200" cy="3657600"/>
          </a:xfrm>
          <a:prstGeom prst="roundRect">
            <a:avLst>
              <a:gd name="adj" fmla="val 8000"/>
            </a:avLst>
          </a:prstGeom>
          <a:solidFill>
            <a:srgbClr val="E8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645920"/>
            <a:ext cx="2377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E56"/>
                </a:solidFill>
                <a:latin typeface="Calibri"/>
              </a:rPr>
              <a:t>P1 Pilot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B1F33"/>
                </a:solidFill>
                <a:latin typeface="Calibri"/>
              </a:rPr>
              <a:t>One court complex
Training + funded ops
90-day KPIs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2743200" cy="3657600"/>
          </a:xfrm>
          <a:prstGeom prst="roundRect">
            <a:avLst>
              <a:gd name="adj" fmla="val 8000"/>
            </a:avLst>
          </a:prstGeom>
          <a:solidFill>
            <a:srgbClr val="E8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2377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E56"/>
                </a:solidFill>
                <a:latin typeface="Calibri"/>
              </a:rPr>
              <a:t>P2 Integrate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B1F33"/>
                </a:solidFill>
                <a:latin typeface="Calibri"/>
              </a:rPr>
              <a:t>Official eCourts/CMS
Citizen retrieval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1463040"/>
            <a:ext cx="2743200" cy="3657600"/>
          </a:xfrm>
          <a:prstGeom prst="roundRect">
            <a:avLst>
              <a:gd name="adj" fmla="val 8000"/>
            </a:avLst>
          </a:prstGeom>
          <a:solidFill>
            <a:srgbClr val="E8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72600" y="1645920"/>
            <a:ext cx="2377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E56"/>
                </a:solidFill>
                <a:latin typeface="Calibri"/>
              </a:rPr>
              <a:t>P3 Scale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B1F33"/>
                </a:solidFill>
                <a:latin typeface="Calibri"/>
              </a:rPr>
              <a:t>Multi-state HA
Security audit
L2 / permissioned 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3"/>
                </a:solidFill>
                <a:latin typeface="Calibri"/>
              </a:rPr>
              <a:t>eVault  ·  Blockchain Legal Records  ·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6E56"/>
                </a:solidFill>
                <a:latin typeface="Calibri"/>
              </a:rPr>
              <a:t>Deliverables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1. Functional prototype — upload, retrieve, share, verify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2. Detailed design document — docs/DESIGN_DOCUMENT.md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3. Business plan — docs/BUSINESS_PLAN.md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4. This presentation +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Thank you — questions welcome</a:t>
            </a:r>
          </a:p>
          <a:p>
            <a:r>
              <a:rPr sz="1400" b="0">
                <a:solidFill>
                  <a:srgbClr val="C8E6DC"/>
                </a:solidFill>
                <a:latin typeface="Calibri"/>
              </a:rPr>
              <a:t>Confidentiality off-chain · Verifiability on-chain · Access by role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